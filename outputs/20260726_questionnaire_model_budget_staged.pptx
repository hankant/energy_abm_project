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1365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本页用于说明研究不是单纯考察补贴效果，而是关注极端气候背景下低收入居民绿色转型的异质性、政策组合效果与公平后果。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本页用于说明可执行路径：先用问卷识别类型，再转化为Agent参数，最后开展政策组合仿真并输出效率、公平与福利指标。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4679315" y="2266315"/>
            <a:ext cx="406400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研究一</a:t>
            </a:r>
            <a:endParaRPr sz="3200"/>
          </a:p>
          <a:p>
            <a:r>
              <a:rPr sz="3200"/>
              <a:t>偏向于研究方法创新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02920" y="3474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LLM-Agents × 家庭能源消费</a:t>
            </a:r>
            <a:endParaRPr sz="12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029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研究目的：极端气候下的低收入居民绿色转型</a:t>
            </a:r>
            <a:endParaRPr sz="28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621792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</a:t>
            </a:r>
            <a:endParaRPr sz="14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21792" y="1938528"/>
            <a:ext cx="51663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</a:pP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极端气候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冲击下，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政策组合（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政府补贴与阶梯电价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促进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家庭的绿色消费意愿？</a:t>
            </a:r>
            <a:endParaRPr sz="23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40080" y="3310128"/>
            <a:ext cx="3456432" cy="1261872"/>
          </a:xfrm>
          <a:prstGeom prst="rect">
            <a:avLst/>
          </a:prstGeom>
          <a:solidFill>
            <a:srgbClr val="E6F1E7"/>
          </a:solidFill>
          <a:ln w="10160">
            <a:solidFill>
              <a:srgbClr val="D8D4CA"/>
            </a:solidFill>
          </a:ln>
        </p:spPr>
        <p:txBody>
          <a:bodyPr wrap="square" lIns="2286" tIns="2286" rIns="2286" bIns="2286" anchor="t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目的一：刻画人群异质性</a:t>
            </a:r>
            <a:endParaRPr sz="15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55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将低收入居民区分为生存约束型、气候脆弱型、补贴敏感型与自主绿色型，识别不同约束机制。</a:t>
            </a:r>
            <a:endParaRPr sz="155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4370832" y="3310128"/>
            <a:ext cx="3456432" cy="1261872"/>
          </a:xfrm>
          <a:prstGeom prst="rect">
            <a:avLst/>
          </a:prstGeom>
          <a:solidFill>
            <a:srgbClr val="E6EFF7"/>
          </a:solidFill>
          <a:ln w="10160">
            <a:solidFill>
              <a:srgbClr val="D8D4CA"/>
            </a:solidFill>
          </a:ln>
        </p:spPr>
        <p:txBody>
          <a:bodyPr wrap="square" lIns="2286" tIns="2286" rIns="2286" bIns="2286" anchor="t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316D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目的二：评估政策组合</a:t>
            </a:r>
            <a:endParaRPr sz="1550" b="1">
              <a:solidFill>
                <a:srgbClr val="316D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55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比较设备购置补贴与递增阶梯电价在不同强度下，对低碳支付意愿和用电行为的影响。</a:t>
            </a:r>
            <a:endParaRPr sz="155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8101584" y="3310128"/>
            <a:ext cx="3456432" cy="1261872"/>
          </a:xfrm>
          <a:prstGeom prst="rect">
            <a:avLst/>
          </a:prstGeom>
          <a:solidFill>
            <a:srgbClr val="F6E7DE"/>
          </a:solidFill>
          <a:ln w="10160">
            <a:solidFill>
              <a:srgbClr val="D8D4CA"/>
            </a:solidFill>
          </a:ln>
        </p:spPr>
        <p:txBody>
          <a:bodyPr wrap="square" lIns="2286" tIns="2286" rIns="2286" bIns="2286" anchor="t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目的三：搭建仿真平台</a:t>
            </a:r>
            <a:endParaRPr sz="155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55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以问卷参数初始化LLM-Agent，模拟极端天气—政策响应—绿色行为转化的动态过程。</a:t>
            </a:r>
            <a:endParaRPr sz="155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6400800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研究逻辑</a:t>
            </a:r>
            <a:endParaRPr sz="140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6446520" y="2103120"/>
            <a:ext cx="987552" cy="566928"/>
          </a:xfrm>
          <a:prstGeom prst="rect">
            <a:avLst/>
          </a:prstGeom>
          <a:solidFill>
            <a:srgbClr val="F6E7DE"/>
          </a:solidFill>
          <a:ln>
            <a:solidFill>
              <a:srgbClr val="F6E7DE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极端天气</a:t>
            </a:r>
            <a:endParaRPr sz="132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498080" y="2212848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772400" y="2103120"/>
            <a:ext cx="987552" cy="566928"/>
          </a:xfrm>
          <a:prstGeom prst="rect">
            <a:avLst/>
          </a:prstGeom>
          <a:solidFill>
            <a:srgbClr val="E6EFF7"/>
          </a:solidFill>
          <a:ln>
            <a:solidFill>
              <a:srgbClr val="E6EFF7"/>
            </a:solidFill>
          </a:ln>
        </p:spPr>
        <p:txBody>
          <a:bodyPr wrap="square" lIns="635" tIns="635" rIns="635" bIns="635" anchor="ctr">
            <a:normAutofit lnSpcReduction="20000"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316D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家庭用电</a:t>
            </a:r>
            <a:r>
              <a:rPr sz="1320" b="1">
                <a:solidFill>
                  <a:srgbClr val="316D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季节性波动</a:t>
            </a:r>
            <a:endParaRPr sz="1320" b="1">
              <a:solidFill>
                <a:srgbClr val="316D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823960" y="2212848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9098280" y="2103120"/>
            <a:ext cx="1248410" cy="567055"/>
          </a:xfrm>
          <a:prstGeom prst="rect">
            <a:avLst/>
          </a:prstGeom>
          <a:solidFill>
            <a:srgbClr val="F2E8EA"/>
          </a:solidFill>
          <a:ln>
            <a:solidFill>
              <a:srgbClr val="F2E8EA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B94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峰值负荷的增加</a:t>
            </a:r>
            <a:endParaRPr sz="1320" b="1">
              <a:solidFill>
                <a:srgbClr val="B94A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sz="1320" b="1">
                <a:solidFill>
                  <a:srgbClr val="B94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能源负担上升</a:t>
            </a:r>
            <a:endParaRPr sz="1320" b="1">
              <a:solidFill>
                <a:srgbClr val="B94A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415905" y="2212848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0682605" y="2103120"/>
            <a:ext cx="728980" cy="567055"/>
          </a:xfrm>
          <a:prstGeom prst="rect">
            <a:avLst/>
          </a:prstGeom>
          <a:solidFill>
            <a:srgbClr val="E6F1E7"/>
          </a:solidFill>
          <a:ln>
            <a:solidFill>
              <a:srgbClr val="E6F1E7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绿色转型分化</a:t>
            </a:r>
            <a:endParaRPr sz="132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2033905" y="5288280"/>
            <a:ext cx="7823200" cy="420370"/>
          </a:xfrm>
          <a:prstGeom prst="rect">
            <a:avLst/>
          </a:prstGeom>
          <a:solidFill>
            <a:srgbClr val="E7E2D8"/>
          </a:solidFill>
          <a:ln>
            <a:solidFill>
              <a:srgbClr val="E7E2D8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</a:t>
            </a: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意义</a:t>
            </a: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</a:t>
            </a: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-Agent based model </a:t>
            </a: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可以作为政策组合有效的检验工具与手段，属于方法创新</a:t>
            </a:r>
            <a:endParaRPr sz="135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02920" y="3474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研究流程</a:t>
            </a:r>
            <a:endParaRPr sz="12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029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总体研究设计：问卷分类 → Agent建模 → 政策仿真</a:t>
            </a:r>
            <a:r>
              <a:rPr sz="28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8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方法检验</a:t>
            </a:r>
            <a:endParaRPr sz="28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594360" y="1600200"/>
            <a:ext cx="2606040" cy="1078992"/>
          </a:xfrm>
          <a:prstGeom prst="rect">
            <a:avLst/>
          </a:prstGeom>
          <a:solidFill>
            <a:srgbClr val="E6F1E7"/>
          </a:solidFill>
          <a:ln w="10160">
            <a:solidFill>
              <a:srgbClr val="D8D4CA"/>
            </a:solidFill>
          </a:ln>
        </p:spPr>
        <p:txBody>
          <a:bodyPr wrap="square" lIns="2032" tIns="2032" rIns="2032" bIns="2032" anchor="t">
            <a:normAutofit/>
          </a:bodyPr>
          <a:lstStyle/>
          <a:p>
            <a:pPr marL="0" indent="0">
              <a:buNone/>
            </a:pPr>
            <a:r>
              <a:rPr sz="134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问卷调查</a:t>
            </a:r>
            <a:endParaRPr sz="134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测量收入约束、能源负担、极端天气暴露、绿色偏好、补贴敏感度与政策信任。</a:t>
            </a:r>
            <a:endParaRPr sz="134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3236976" y="198424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3502152" y="1600200"/>
            <a:ext cx="2606040" cy="1078992"/>
          </a:xfrm>
          <a:prstGeom prst="rect">
            <a:avLst/>
          </a:prstGeom>
          <a:solidFill>
            <a:srgbClr val="E6EFF7"/>
          </a:solidFill>
          <a:ln w="10160">
            <a:solidFill>
              <a:srgbClr val="D8D4CA"/>
            </a:solidFill>
          </a:ln>
        </p:spPr>
        <p:txBody>
          <a:bodyPr wrap="square" lIns="2032" tIns="2032" rIns="2032" bIns="2032" anchor="t">
            <a:normAutofit/>
          </a:bodyPr>
          <a:lstStyle/>
          <a:p>
            <a:pPr marL="0" indent="0">
              <a:buNone/>
            </a:pPr>
            <a:r>
              <a:rPr sz="1340" b="1">
                <a:solidFill>
                  <a:srgbClr val="316D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居民分类</a:t>
            </a:r>
            <a:endParaRPr sz="1340" b="1">
              <a:solidFill>
                <a:srgbClr val="316D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采用LCA/聚类识别四类低收入居民，形成Agent类型参数。</a:t>
            </a:r>
            <a:endParaRPr sz="134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144768" y="198424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409944" y="1600200"/>
            <a:ext cx="2606040" cy="1078992"/>
          </a:xfrm>
          <a:prstGeom prst="rect">
            <a:avLst/>
          </a:prstGeom>
          <a:solidFill>
            <a:srgbClr val="F1EBF7"/>
          </a:solidFill>
          <a:ln w="10160">
            <a:solidFill>
              <a:srgbClr val="D8D4CA"/>
            </a:solidFill>
          </a:ln>
        </p:spPr>
        <p:txBody>
          <a:bodyPr wrap="square" lIns="2032" tIns="2032" rIns="2032" bIns="2032" anchor="t">
            <a:normAutofit/>
          </a:bodyPr>
          <a:lstStyle/>
          <a:p>
            <a:pPr marL="0" indent="0">
              <a:buNone/>
            </a:pPr>
            <a:r>
              <a:rPr sz="1340" b="1">
                <a:solidFill>
                  <a:srgbClr val="6B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Agent初始化</a:t>
            </a:r>
            <a:endParaRPr sz="1340" b="1">
              <a:solidFill>
                <a:srgbClr val="6B4E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为不同类型Agent设定支付能力、风险感知、补贴阈值、模仿系数。</a:t>
            </a:r>
            <a:endParaRPr sz="134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9052560" y="198424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9317736" y="1600200"/>
            <a:ext cx="2606040" cy="1078992"/>
          </a:xfrm>
          <a:prstGeom prst="rect">
            <a:avLst/>
          </a:prstGeom>
          <a:solidFill>
            <a:srgbClr val="F6E7DE"/>
          </a:solidFill>
          <a:ln w="10160">
            <a:solidFill>
              <a:srgbClr val="D8D4CA"/>
            </a:solidFill>
          </a:ln>
        </p:spPr>
        <p:txBody>
          <a:bodyPr wrap="square" lIns="2032" tIns="2032" rIns="2032" bIns="2032" anchor="t">
            <a:normAutofit/>
          </a:bodyPr>
          <a:lstStyle/>
          <a:p>
            <a:pPr marL="0" indent="0">
              <a:buNone/>
            </a:pPr>
            <a:r>
              <a:rPr sz="134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政策情景仿真</a:t>
            </a:r>
            <a:endParaRPr sz="134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组合补贴强度、阶梯电价强度与极端天气情景，比较动态结果。</a:t>
            </a:r>
            <a:endParaRPr sz="134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85800" y="4736465"/>
            <a:ext cx="1870075" cy="2927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政策组合</a:t>
            </a:r>
            <a:r>
              <a:rPr sz="140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情景变量</a:t>
            </a:r>
            <a:endParaRPr sz="140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85800" y="507492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补贴强度：0% / 15% / 40%     阶梯电价：低 / 中 / 高     </a:t>
            </a:r>
            <a:endParaRPr sz="145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9"/>
          <p:cNvSpPr>
            <a:spLocks noGrp="1"/>
          </p:cNvSpPr>
          <p:nvPr/>
        </p:nvSpPr>
        <p:spPr>
          <a:xfrm>
            <a:off x="9317736" y="3117850"/>
            <a:ext cx="2606040" cy="1078992"/>
          </a:xfrm>
          <a:prstGeom prst="rect">
            <a:avLst/>
          </a:prstGeom>
          <a:solidFill>
            <a:srgbClr val="F6E7DE"/>
          </a:solidFill>
          <a:ln w="10160">
            <a:solidFill>
              <a:srgbClr val="D8D4CA"/>
            </a:solidFill>
          </a:ln>
        </p:spPr>
        <p:txBody>
          <a:bodyPr wrap="square" lIns="2032" tIns="2032" rIns="2032" bIns="2032" anchor="t">
            <a:normAutofit/>
          </a:bodyPr>
          <a:lstStyle/>
          <a:p>
            <a:pPr marL="0" indent="0">
              <a:buNone/>
            </a:pPr>
            <a:r>
              <a:rPr sz="134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</a:t>
            </a:r>
            <a:r>
              <a:rPr sz="134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模型验证</a:t>
            </a:r>
            <a:endParaRPr sz="134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使用纵向问卷结果检验仿真结果，证明</a:t>
            </a: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LLM-Agent based model</a:t>
            </a: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可以作为政策组合的研究方法</a:t>
            </a:r>
            <a:endParaRPr sz="134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 8"/>
          <p:cNvSpPr>
            <a:spLocks noGrp="1"/>
          </p:cNvSpPr>
          <p:nvPr/>
        </p:nvSpPr>
        <p:spPr>
          <a:xfrm rot="5400000">
            <a:off x="10398760" y="276148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4544060" y="2593340"/>
            <a:ext cx="6096000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/>
              <a:t>研究二</a:t>
            </a:r>
            <a:endParaRPr sz="3200"/>
          </a:p>
          <a:p>
            <a:r>
              <a:rPr sz="3200"/>
              <a:t>偏向于经济学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ext 15"/>
          <p:cNvSpPr>
            <a:spLocks noGrp="1"/>
          </p:cNvSpPr>
          <p:nvPr/>
        </p:nvSpPr>
        <p:spPr>
          <a:xfrm>
            <a:off x="2673985" y="3800475"/>
            <a:ext cx="5528310" cy="184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T2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</a:p>
        </p:txBody>
      </p:sp>
      <p:sp>
        <p:nvSpPr>
          <p:cNvPr id="2" name="Text 0"/>
          <p:cNvSpPr>
            <a:spLocks noGrp="1"/>
          </p:cNvSpPr>
          <p:nvPr/>
        </p:nvSpPr>
        <p:spPr>
          <a:xfrm>
            <a:off x="326390" y="340995"/>
            <a:ext cx="10246360" cy="384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研究问题：极端气候下，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政府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最低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多少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补贴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能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撬动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低收入群体的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绿色消费？</a:t>
            </a:r>
            <a:endParaRPr sz="24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7955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以低收入居民为重点对象，识别“政府补贴</a:t>
            </a:r>
            <a:r>
              <a:rPr sz="14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促进</a:t>
            </a:r>
            <a:r>
              <a:rPr sz="14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绿色消费意愿”的最低有效阈值。</a:t>
            </a:r>
            <a:endParaRPr sz="14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10407650" y="411480"/>
            <a:ext cx="125095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EXTREME CLIMATE × GREEN CONSUMPTION</a:t>
            </a:r>
            <a:endParaRPr sz="8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12700">
            <a:solidFill>
              <a:srgbClr val="D6DBDF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612648" y="1353312"/>
            <a:ext cx="914400" cy="256032"/>
          </a:xfrm>
          <a:prstGeom prst="rect">
            <a:avLst/>
          </a:prstGeom>
          <a:solidFill>
            <a:srgbClr val="1F8A4C"/>
          </a:solidFill>
          <a:ln>
            <a:solidFill>
              <a:srgbClr val="1F8A4C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核心判断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627632" y="1289304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20000"/>
          </a:bodyPr>
          <a:lstStyle/>
          <a:p>
            <a:pPr marL="0" indent="0">
              <a:buNone/>
            </a:pPr>
            <a:r>
              <a:rPr sz="165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极端气候会提升居民对绿色消费的关注，但低收入群体受价格约束更强；因此，关键不是“有没有补贴”，而是“补贴达到多高才开始有效”。</a:t>
            </a:r>
            <a:endParaRPr sz="165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40080" y="1993392"/>
            <a:ext cx="324612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BDB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① 对象与场景
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低收入居民 / 气候影响显著地区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（重庆）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关注绿色产品的价格溢价与支付意愿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极端高温、暴雨等作为外部冲击场景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对低收入居民进行分类，异质性研究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4206240" y="1993392"/>
            <a:ext cx="3611880" cy="1508760"/>
          </a:xfrm>
          <a:prstGeom prst="rect">
            <a:avLst/>
          </a:prstGeom>
          <a:solidFill>
            <a:srgbClr val="D6EAF8"/>
          </a:solidFill>
          <a:ln w="15240">
            <a:solidFill>
              <a:srgbClr val="AED6F1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② 两轮问卷
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T1：基线态度、收入约束、绿色消费习惯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T2：极端气候影响后的态度变化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每轮约 500 人；比较同一群体前后变化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138160" y="1993392"/>
            <a:ext cx="3429000" cy="1508760"/>
          </a:xfrm>
          <a:prstGeom prst="rect">
            <a:avLst/>
          </a:prstGeom>
          <a:solidFill>
            <a:srgbClr val="DCEFE2"/>
          </a:solidFill>
          <a:ln w="15240">
            <a:solidFill>
              <a:srgbClr val="ABEBC6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③ 补贴梯度
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设置 0%、5%、10%、15%、20%、25%...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低收入群体的补贴敏感性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识别最低有效补贴阈值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502920" y="3986530"/>
            <a:ext cx="1325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T1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</a:t>
            </a: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基线调查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2148967" y="457327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2852928" y="4069080"/>
            <a:ext cx="1417320" cy="676656"/>
          </a:xfrm>
          <a:prstGeom prst="rect">
            <a:avLst/>
          </a:prstGeom>
          <a:solidFill>
            <a:srgbClr val="FDEBD0"/>
          </a:solidFill>
          <a:ln w="12700">
            <a:solidFill>
              <a:srgbClr val="F5CBA7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搭建</a:t>
            </a:r>
            <a:r>
              <a:rPr sz="11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Agent</a:t>
            </a:r>
            <a:r>
              <a:rPr sz="11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：</a:t>
            </a:r>
            <a:endParaRPr sz="115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1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极端气候</a:t>
            </a:r>
            <a:endParaRPr sz="115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1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感知/情景</a:t>
            </a:r>
            <a:endParaRPr sz="115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4407408" y="420624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785868" y="4069080"/>
            <a:ext cx="1417320" cy="676656"/>
          </a:xfrm>
          <a:prstGeom prst="rect">
            <a:avLst/>
          </a:prstGeom>
          <a:solidFill>
            <a:srgbClr val="DCEFE2"/>
          </a:solidFill>
          <a:ln w="12700">
            <a:solidFill>
              <a:srgbClr val="ABEBC6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改变</a:t>
            </a:r>
            <a:r>
              <a:rPr sz="115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补贴水平</a:t>
            </a:r>
            <a:endParaRPr sz="115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281928" y="420624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8887968" y="38039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C039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待估计阈值</a:t>
            </a:r>
            <a:endParaRPr sz="1200" b="1">
              <a:solidFill>
                <a:srgbClr val="C039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8613648" y="4855464"/>
            <a:ext cx="260604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8613648" y="3986784"/>
            <a:ext cx="0" cy="86868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10899648" y="4928616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补贴</a:t>
            </a:r>
            <a:endParaRPr sz="85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 rot="16200000">
            <a:off x="8394192" y="395935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意愿</a:t>
            </a:r>
            <a:endParaRPr sz="85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8823960" y="4160520"/>
            <a:ext cx="1874520" cy="713232"/>
          </a:xfrm>
          <a:prstGeom prst="arc">
            <a:avLst>
              <a:gd name="adj1" fmla="val 10550176"/>
              <a:gd name="adj2" fmla="val 19021322"/>
            </a:avLst>
          </a:prstGeom>
          <a:noFill/>
          <a:ln w="25400">
            <a:solidFill>
              <a:srgbClr val="1F8A4C"/>
            </a:solidFill>
            <a:prstDash val="solid"/>
          </a:ln>
        </p:spPr>
      </p:sp>
      <p:sp>
        <p:nvSpPr>
          <p:cNvPr id="24" name="Shape 22"/>
          <p:cNvSpPr>
            <a:spLocks noGrp="1"/>
          </p:cNvSpPr>
          <p:nvPr/>
        </p:nvSpPr>
        <p:spPr>
          <a:xfrm>
            <a:off x="9710928" y="4041648"/>
            <a:ext cx="0" cy="795528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>
            <a:spLocks noGrp="1"/>
          </p:cNvSpPr>
          <p:nvPr/>
        </p:nvSpPr>
        <p:spPr>
          <a:xfrm>
            <a:off x="9564624" y="49286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C039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x%</a:t>
            </a:r>
            <a:endParaRPr sz="900" b="1">
              <a:solidFill>
                <a:srgbClr val="C039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640080" y="5870448"/>
            <a:ext cx="10881360" cy="384048"/>
          </a:xfrm>
          <a:prstGeom prst="rect">
            <a:avLst/>
          </a:prstGeom>
          <a:solidFill>
            <a:srgbClr val="1F8A4C"/>
          </a:solidFill>
          <a:ln>
            <a:solidFill>
              <a:srgbClr val="1F8A4C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最终输出：确定哪一档补贴开始显著提高绿色消费意愿，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和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“态度—行为”转化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周期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。</a:t>
            </a:r>
            <a:endParaRPr sz="15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Text 9"/>
          <p:cNvSpPr>
            <a:spLocks noGrp="1"/>
          </p:cNvSpPr>
          <p:nvPr/>
        </p:nvSpPr>
        <p:spPr>
          <a:xfrm>
            <a:off x="502920" y="4928235"/>
            <a:ext cx="1325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T2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问卷二次调查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Text 13"/>
          <p:cNvSpPr>
            <a:spLocks noGrp="1"/>
          </p:cNvSpPr>
          <p:nvPr/>
        </p:nvSpPr>
        <p:spPr>
          <a:xfrm>
            <a:off x="6680708" y="4060190"/>
            <a:ext cx="1417320" cy="676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ABEBC6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观察显著提升低收入居民绿色消费的最低补贴</a:t>
            </a:r>
            <a:endParaRPr sz="115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4034155" y="5033010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LLM-Agent based model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Text 10"/>
          <p:cNvSpPr>
            <a:spLocks noGrp="1"/>
          </p:cNvSpPr>
          <p:nvPr/>
        </p:nvSpPr>
        <p:spPr>
          <a:xfrm rot="5400000">
            <a:off x="1050290" y="4636135"/>
            <a:ext cx="200660" cy="2559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模型设计：问卷+LLM- Agent-based Model</a:t>
            </a:r>
            <a:endParaRPr sz="24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7955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将居民异质性、社交网络影响和补贴情景转化为可反事实模拟的行为扩散模型。</a:t>
            </a:r>
            <a:endParaRPr sz="1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006840" y="41148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EXTREME CLIMATE × GREEN CONSUMPTION</a:t>
            </a:r>
            <a:endParaRPr sz="8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12700">
            <a:solidFill>
              <a:srgbClr val="D6DBDF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621792" y="1353312"/>
            <a:ext cx="960120" cy="27432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建模链条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85800" y="1856232"/>
            <a:ext cx="1508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纵向</a:t>
            </a: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</a:t>
            </a: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用来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Agent参数校准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235915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2834640" y="1856232"/>
            <a:ext cx="1508760" cy="713232"/>
          </a:xfrm>
          <a:prstGeom prst="rect">
            <a:avLst/>
          </a:prstGeom>
          <a:solidFill>
            <a:srgbClr val="DCEFE2"/>
          </a:solidFill>
          <a:ln w="12700">
            <a:solidFill>
              <a:srgbClr val="ABEBC6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构建</a:t>
            </a: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500</a:t>
            </a: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个</a:t>
            </a: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Agent</a:t>
            </a:r>
            <a:b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（用电习惯</a:t>
            </a: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绿色消费意愿等）</a:t>
            </a:r>
            <a:endParaRPr sz="120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1713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983480" y="1856232"/>
            <a:ext cx="150876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社交网络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互动更新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665683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132320" y="1856232"/>
            <a:ext cx="1508760" cy="713232"/>
          </a:xfrm>
          <a:prstGeom prst="rect">
            <a:avLst/>
          </a:prstGeom>
          <a:solidFill>
            <a:srgbClr val="FDEBD0"/>
          </a:solidFill>
          <a:ln w="12700">
            <a:solidFill>
              <a:srgbClr val="F5CBA7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补贴政策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极端气候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情景实验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81481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9281160" y="1856232"/>
            <a:ext cx="1508760" cy="713232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集体</a:t>
            </a: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涌现结果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85800" y="3081528"/>
            <a:ext cx="3108960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D5DBDB"/>
            </a:solidFill>
          </a:ln>
        </p:spPr>
        <p:txBody>
          <a:bodyPr wrap="square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Agent 属性
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收入水平：低收入 / 非低收入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价格敏感度、环境态度、风险感知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初始绿色消费意愿与消费习惯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096512" y="3081528"/>
            <a:ext cx="3703320" cy="1536192"/>
          </a:xfrm>
          <a:prstGeom prst="rect">
            <a:avLst/>
          </a:prstGeom>
          <a:solidFill>
            <a:srgbClr val="D6EAF8"/>
          </a:solidFill>
          <a:ln w="15240">
            <a:solidFill>
              <a:srgbClr val="AED6F1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行为更新规则
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极端气候感知</a:t>
            </a:r>
            <a:r>
              <a:rPr sz="1350" b="1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提高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绿色消费动机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补贴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同样</a:t>
            </a:r>
            <a:r>
              <a:rPr sz="1350" b="1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提高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绿色消费动机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极端气候提升能源价格（加不加？）</a:t>
            </a:r>
            <a:endParaRPr sz="135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社交网络产生同伴影响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观察最低撬动低收入家庭绿色效应意愿的</a:t>
            </a:r>
            <a:r>
              <a:rPr sz="135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“</a:t>
            </a:r>
            <a:r>
              <a:rPr sz="135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涌现</a:t>
            </a:r>
            <a:r>
              <a:rPr sz="135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”</a:t>
            </a:r>
            <a:r>
              <a:rPr sz="135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补贴价格</a:t>
            </a:r>
            <a:endParaRPr sz="1350" b="1">
              <a:solidFill>
                <a:schemeClr val="accent1">
                  <a:lumMod val="7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8138160" y="3081528"/>
            <a:ext cx="3337560" cy="1536192"/>
          </a:xfrm>
          <a:prstGeom prst="rect">
            <a:avLst/>
          </a:prstGeom>
          <a:solidFill>
            <a:srgbClr val="FDEBD0"/>
          </a:solidFill>
          <a:ln w="15240">
            <a:solidFill>
              <a:srgbClr val="F5CBA7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模型优势</a:t>
            </a:r>
            <a:endParaRPr sz="135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Social networks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反事实实验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意愿的改变是长期的、动态的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纵向问卷更能捕捉极端气候对居民绿色消费意愿的变化规律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85800" y="5266944"/>
            <a:ext cx="1143000" cy="256032"/>
          </a:xfrm>
          <a:prstGeom prst="rect">
            <a:avLst/>
          </a:prstGeom>
          <a:solidFill>
            <a:srgbClr val="1F8A4C"/>
          </a:solidFill>
          <a:ln>
            <a:solidFill>
              <a:srgbClr val="1F8A4C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关键结果变量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965960" y="5212080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政府最低绿色补贴</a:t>
            </a: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|  低收入</a:t>
            </a: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家庭绿色消费意愿</a:t>
            </a:r>
            <a:endParaRPr sz="15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85800" y="5961888"/>
            <a:ext cx="10789920" cy="384048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研究贡献：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提供一个引入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LLM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的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方法</a:t>
            </a:r>
            <a:endParaRPr sz="15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问卷预算：1000份居民样本的采购方案</a:t>
            </a:r>
            <a:endParaRPr sz="24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7955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网页标价是标准零售价；实际成本取决于题量、筛选条件和是否对接官方销售。</a:t>
            </a:r>
            <a:endParaRPr sz="1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006840" y="41148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EXTREME CLIMATE × GREEN CONSUMPTION</a:t>
            </a:r>
            <a:endParaRPr sz="8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12700">
            <a:solidFill>
              <a:srgbClr val="D6DBDF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621792" y="1353312"/>
            <a:ext cx="960120" cy="27432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采购流程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85800" y="1856232"/>
            <a:ext cx="1508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最终版问卷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30–45题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235915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2834640" y="1856232"/>
            <a:ext cx="1508760" cy="713232"/>
          </a:xfrm>
          <a:prstGeom prst="rect">
            <a:avLst/>
          </a:prstGeom>
          <a:solidFill>
            <a:srgbClr val="DCEFE2"/>
          </a:solidFill>
          <a:ln w="12700">
            <a:solidFill>
              <a:srgbClr val="ABEBC6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设置筛选与配额</a:t>
            </a:r>
            <a:endParaRPr sz="120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城市·年龄·住房</a:t>
            </a:r>
            <a:endParaRPr sz="120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1713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983480" y="1856232"/>
            <a:ext cx="150876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后台生成总价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截图留存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665683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132320" y="1856232"/>
            <a:ext cx="1508760" cy="713232"/>
          </a:xfrm>
          <a:prstGeom prst="rect">
            <a:avLst/>
          </a:prstGeom>
          <a:solidFill>
            <a:srgbClr val="FDEBD0"/>
          </a:solidFill>
          <a:ln w="12700">
            <a:solidFill>
              <a:srgbClr val="F5CBA7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联系官方销售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学术优惠+发票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81481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9281160" y="1856232"/>
            <a:ext cx="1508760" cy="713232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比较书面报价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确定平台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85800" y="3081528"/>
            <a:ext cx="3108960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D5DBDB"/>
            </a:solidFill>
          </a:ln>
        </p:spPr>
        <p:txBody>
          <a:bodyPr wrap="square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问卷星｜¥</a:t>
            </a: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,000–</a:t>
            </a: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,500</a:t>
            </a:r>
            <a:endParaRPr sz="13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50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题、基础全国样本约¥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,000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城市/收入/住房筛选会叠加费用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学术项目可争取约5%–10%优惠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096512" y="3081528"/>
            <a:ext cx="3703320" cy="1536192"/>
          </a:xfrm>
          <a:prstGeom prst="rect">
            <a:avLst/>
          </a:prstGeom>
          <a:solidFill>
            <a:srgbClr val="D6EAF8"/>
          </a:solidFill>
          <a:ln w="15240">
            <a:solidFill>
              <a:srgbClr val="AED6F1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Credamo见数｜¥</a:t>
            </a: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,500–</a:t>
            </a: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,000</a:t>
            </a:r>
            <a:endParaRPr sz="135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计价与标签加价相对直观</a:t>
            </a:r>
            <a:endParaRPr sz="135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最终以项目书面报价为准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85800" y="5266944"/>
            <a:ext cx="1143000" cy="256032"/>
          </a:xfrm>
          <a:prstGeom prst="rect">
            <a:avLst/>
          </a:prstGeom>
          <a:solidFill>
            <a:srgbClr val="1F8A4C"/>
          </a:solidFill>
          <a:ln>
            <a:solidFill>
              <a:srgbClr val="1F8A4C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建议预算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965960" y="5212080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问卷样本采购：¥5,000</a:t>
            </a: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-8000</a:t>
            </a:r>
            <a:endParaRPr sz="15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85800" y="5961888"/>
            <a:ext cx="10789920" cy="384048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风险控制：低价第三方样本可能偏年轻学生、缺少家庭住户并出现同质作答，不适合居民能源研究。</a:t>
            </a:r>
            <a:endParaRPr sz="15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模型预算：先降维试跑，验证不足再升维</a:t>
            </a:r>
            <a:endParaRPr sz="24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7955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先用聚类压缩相似家庭；只有低成本模型不能保留关键差异时，才进入高成本全分辨率模拟。</a:t>
            </a:r>
            <a:endParaRPr sz="1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006840" y="41148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EXTREME CLIMATE × GREEN CONSUMPTION</a:t>
            </a:r>
            <a:endParaRPr sz="8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12700">
            <a:solidFill>
              <a:srgbClr val="D6DBDF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621792" y="1353312"/>
            <a:ext cx="960120" cy="27432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两阶段路径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85800" y="1856232"/>
            <a:ext cx="1508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lang="zh-CN"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总共</a:t>
            </a: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1000份问卷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居民异质属性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235915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2834640" y="1856232"/>
            <a:ext cx="1508760" cy="713232"/>
          </a:xfrm>
          <a:prstGeom prst="rect">
            <a:avLst/>
          </a:prstGeom>
          <a:solidFill>
            <a:srgbClr val="DCEFE2"/>
          </a:solidFill>
          <a:ln w="12700">
            <a:solidFill>
              <a:srgbClr val="ABEBC6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聚类相似回答</a:t>
            </a:r>
            <a:endParaRPr sz="120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合并高度相似家庭</a:t>
            </a:r>
            <a:endParaRPr sz="120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1713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983480" y="1856232"/>
            <a:ext cx="150876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抽取20–50类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代表性家庭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665683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132320" y="1856232"/>
            <a:ext cx="1508760" cy="713232"/>
          </a:xfrm>
          <a:prstGeom prst="rect">
            <a:avLst/>
          </a:prstGeom>
          <a:solidFill>
            <a:srgbClr val="FDEBD0"/>
          </a:solidFill>
          <a:ln w="12700">
            <a:solidFill>
              <a:srgbClr val="F5CBA7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低成本试跑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检验模拟效果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81481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9281160" y="1856232"/>
            <a:ext cx="1508760" cy="713232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效果足够：停止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不足：升维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85800" y="3081528"/>
            <a:ext cx="3108960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D5DBDB"/>
            </a:solidFill>
          </a:ln>
        </p:spPr>
        <p:txBody>
          <a:bodyPr wrap="square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阶段1｜降维方案：约¥1,500</a:t>
            </a:r>
            <a:endParaRPr sz="13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按问卷特征聚类居民家庭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合并极其相似的回答与参数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每类保留代表性家庭和核心特征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先检验政策结果是否稳定、可信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096512" y="3081528"/>
            <a:ext cx="3703320" cy="1536192"/>
          </a:xfrm>
          <a:prstGeom prst="rect">
            <a:avLst/>
          </a:prstGeom>
          <a:solidFill>
            <a:srgbClr val="D6EAF8"/>
          </a:solidFill>
          <a:ln w="15240">
            <a:solidFill>
              <a:srgbClr val="AED6F1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升级判断｜不是自动进入高成本方案</a:t>
            </a:r>
            <a:endParaRPr sz="135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能否复现问卷中的总体分布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能否保留关键家庭类型差异</a:t>
            </a:r>
            <a:endParaRPr sz="135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政策情境排序是否稳定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与个体级抽样验证误差是否可接受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通过：采用降维模型；不通过：进入阶段2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8138160" y="3081528"/>
            <a:ext cx="3337560" cy="1536192"/>
          </a:xfrm>
          <a:prstGeom prst="rect">
            <a:avLst/>
          </a:prstGeom>
          <a:solidFill>
            <a:srgbClr val="FDEBD0"/>
          </a:solidFill>
          <a:ln w="15240">
            <a:solidFill>
              <a:srgbClr val="F5CBA7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阶段2｜升维方案：最高约¥8,000</a:t>
            </a:r>
            <a:endParaRPr sz="135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增加家庭类型或恢复个体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更多家庭直接调用LLM决策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时间步、政策情境与重复实验增加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参数搜索和稳健性检验同步扩张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85800" y="5266944"/>
            <a:ext cx="1143000" cy="256032"/>
          </a:xfrm>
          <a:prstGeom prst="rect">
            <a:avLst/>
          </a:prstGeom>
          <a:solidFill>
            <a:srgbClr val="1F8A4C"/>
          </a:solidFill>
          <a:ln>
            <a:solidFill>
              <a:srgbClr val="1F8A4C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预算区间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965960" y="5212080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理想状态：降维有效，约¥1,500｜压力上限：升维至个体级，最高约¥8,000</a:t>
            </a:r>
            <a:endParaRPr sz="15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85800" y="5961888"/>
            <a:ext cx="10789920" cy="384048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成本爆炸原因：决策单元 × 时间步 × 政策情境 × 参数组合 × 重复次数共同放大Token调用量。</a:t>
            </a:r>
            <a:endParaRPr sz="15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2473</Words>
  <Application>WPS 演示</Application>
  <PresentationFormat>Converted Presentation</PresentationFormat>
  <Paragraphs>289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Times New Roman</vt:lpstr>
      <vt:lpstr>Noto Sans CJK SC</vt:lpstr>
      <vt:lpstr>Segoe Print</vt:lpstr>
      <vt:lpstr>Arial Unicode MS</vt:lpstr>
      <vt:lpstr>Calibri</vt:lpstr>
      <vt:lpstr>Times New Roman</vt:lpstr>
      <vt:lpstr>等线</vt:lpstr>
      <vt:lpstr>Saturday Sans Regular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汉克克克克克克克</cp:lastModifiedBy>
  <cp:revision>2</cp:revision>
  <dcterms:created xsi:type="dcterms:W3CDTF">2026-07-16T14:37:24Z</dcterms:created>
  <dcterms:modified xsi:type="dcterms:W3CDTF">2026-07-16T14:37:54Z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D725EB1217404DBE90C93BC2EBF49303_12</vt:lpwstr>
  </property>
  <property fmtid="{D5CDD505-2E9C-101B-9397-08002B2CF9AE}" pid="3" name="KSOProductBuildVer">
    <vt:lpwstr>2052-12.1.0.26895</vt:lpwstr>
  </property>
</Properties>
</file>